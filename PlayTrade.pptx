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9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77" r:id="rId10"/>
    <p:sldId id="269" r:id="rId11"/>
    <p:sldId id="279" r:id="rId12"/>
    <p:sldId id="278" r:id="rId13"/>
    <p:sldId id="261" r:id="rId14"/>
    <p:sldId id="275" r:id="rId15"/>
    <p:sldId id="262" r:id="rId16"/>
    <p:sldId id="280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84706" autoAdjust="0"/>
  </p:normalViewPr>
  <p:slideViewPr>
    <p:cSldViewPr snapToGrid="0">
      <p:cViewPr varScale="1">
        <p:scale>
          <a:sx n="70" d="100"/>
          <a:sy n="70" d="100"/>
        </p:scale>
        <p:origin x="1762" y="48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44B575-3AD5-4AF0-B294-CD7E425376B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4D5423-364E-41FA-AE0B-4AA79E7EA549}">
      <dgm:prSet/>
      <dgm:spPr/>
      <dgm:t>
        <a:bodyPr/>
        <a:lstStyle/>
        <a:p>
          <a:r>
            <a:rPr lang="hr-HR"/>
            <a:t>Timski rad</a:t>
          </a:r>
          <a:endParaRPr lang="en-US"/>
        </a:p>
      </dgm:t>
    </dgm:pt>
    <dgm:pt modelId="{B92177F6-D688-467C-A467-3B503DE55211}" type="parTrans" cxnId="{955170FC-9720-4EB9-9AC1-D55325C7AEE9}">
      <dgm:prSet/>
      <dgm:spPr/>
      <dgm:t>
        <a:bodyPr/>
        <a:lstStyle/>
        <a:p>
          <a:endParaRPr lang="en-US"/>
        </a:p>
      </dgm:t>
    </dgm:pt>
    <dgm:pt modelId="{4105DFC0-55E1-485D-9068-B3BF64DFACB5}" type="sibTrans" cxnId="{955170FC-9720-4EB9-9AC1-D55325C7AEE9}">
      <dgm:prSet/>
      <dgm:spPr/>
      <dgm:t>
        <a:bodyPr/>
        <a:lstStyle/>
        <a:p>
          <a:endParaRPr lang="en-US"/>
        </a:p>
      </dgm:t>
    </dgm:pt>
    <dgm:pt modelId="{CA860AC5-7436-4094-B848-8797CCEE03FE}">
      <dgm:prSet/>
      <dgm:spPr/>
      <dgm:t>
        <a:bodyPr/>
        <a:lstStyle/>
        <a:p>
          <a:r>
            <a:rPr lang="hr-HR"/>
            <a:t>Deployment</a:t>
          </a:r>
          <a:endParaRPr lang="en-US"/>
        </a:p>
      </dgm:t>
    </dgm:pt>
    <dgm:pt modelId="{8E8CD2F8-10D7-4A79-BFB8-FECCB5919677}" type="parTrans" cxnId="{01709DF5-BC96-467A-B9F0-C22D72856E68}">
      <dgm:prSet/>
      <dgm:spPr/>
      <dgm:t>
        <a:bodyPr/>
        <a:lstStyle/>
        <a:p>
          <a:endParaRPr lang="en-US"/>
        </a:p>
      </dgm:t>
    </dgm:pt>
    <dgm:pt modelId="{2640F4FD-676B-4D9E-BF9C-7550F14BC21D}" type="sibTrans" cxnId="{01709DF5-BC96-467A-B9F0-C22D72856E68}">
      <dgm:prSet/>
      <dgm:spPr/>
      <dgm:t>
        <a:bodyPr/>
        <a:lstStyle/>
        <a:p>
          <a:endParaRPr lang="en-US"/>
        </a:p>
      </dgm:t>
    </dgm:pt>
    <dgm:pt modelId="{A2CD0BC0-9CFF-4E25-B58B-A63FB43792E3}">
      <dgm:prSet/>
      <dgm:spPr/>
      <dgm:t>
        <a:bodyPr/>
        <a:lstStyle/>
        <a:p>
          <a:r>
            <a:rPr lang="hr-HR"/>
            <a:t>Bazu nije dovoljno „samo” nacrtati</a:t>
          </a:r>
          <a:endParaRPr lang="en-US"/>
        </a:p>
      </dgm:t>
    </dgm:pt>
    <dgm:pt modelId="{ECCD4C22-95C6-4F79-A3BE-DFFC876E22DF}" type="parTrans" cxnId="{5780E314-11EB-4938-A7AC-D365D5A8FC55}">
      <dgm:prSet/>
      <dgm:spPr/>
      <dgm:t>
        <a:bodyPr/>
        <a:lstStyle/>
        <a:p>
          <a:endParaRPr lang="en-US"/>
        </a:p>
      </dgm:t>
    </dgm:pt>
    <dgm:pt modelId="{2A633EB1-CF2A-4C83-9C13-98AB56DC73F5}" type="sibTrans" cxnId="{5780E314-11EB-4938-A7AC-D365D5A8FC55}">
      <dgm:prSet/>
      <dgm:spPr/>
      <dgm:t>
        <a:bodyPr/>
        <a:lstStyle/>
        <a:p>
          <a:endParaRPr lang="en-US"/>
        </a:p>
      </dgm:t>
    </dgm:pt>
    <dgm:pt modelId="{7B656DCD-D84E-44FE-B1F9-CAF208CA3F38}">
      <dgm:prSet/>
      <dgm:spPr/>
      <dgm:t>
        <a:bodyPr/>
        <a:lstStyle/>
        <a:p>
          <a:r>
            <a:rPr lang="hr-HR"/>
            <a:t>Testovi nisu „jednom napisani i gotovi”</a:t>
          </a:r>
          <a:endParaRPr lang="en-US"/>
        </a:p>
      </dgm:t>
    </dgm:pt>
    <dgm:pt modelId="{C7028DE5-671B-4932-9E3E-ADC138482EE9}" type="parTrans" cxnId="{0BAE9D24-9930-4030-B63F-35381AC3C1AA}">
      <dgm:prSet/>
      <dgm:spPr/>
      <dgm:t>
        <a:bodyPr/>
        <a:lstStyle/>
        <a:p>
          <a:endParaRPr lang="en-US"/>
        </a:p>
      </dgm:t>
    </dgm:pt>
    <dgm:pt modelId="{B88DC9DD-3198-4355-8E68-F1405BEE640E}" type="sibTrans" cxnId="{0BAE9D24-9930-4030-B63F-35381AC3C1AA}">
      <dgm:prSet/>
      <dgm:spPr/>
      <dgm:t>
        <a:bodyPr/>
        <a:lstStyle/>
        <a:p>
          <a:endParaRPr lang="en-US"/>
        </a:p>
      </dgm:t>
    </dgm:pt>
    <dgm:pt modelId="{66727A6E-3246-468F-8FA4-F303D979292E}" type="pres">
      <dgm:prSet presAssocID="{6944B575-3AD5-4AF0-B294-CD7E425376B0}" presName="outerComposite" presStyleCnt="0">
        <dgm:presLayoutVars>
          <dgm:chMax val="5"/>
          <dgm:dir/>
          <dgm:resizeHandles val="exact"/>
        </dgm:presLayoutVars>
      </dgm:prSet>
      <dgm:spPr/>
    </dgm:pt>
    <dgm:pt modelId="{0EC57BD6-7AB1-4832-AD65-9191E3819F5B}" type="pres">
      <dgm:prSet presAssocID="{6944B575-3AD5-4AF0-B294-CD7E425376B0}" presName="dummyMaxCanvas" presStyleCnt="0">
        <dgm:presLayoutVars/>
      </dgm:prSet>
      <dgm:spPr/>
    </dgm:pt>
    <dgm:pt modelId="{462CA42A-FABD-4836-8E95-6264116C8AA5}" type="pres">
      <dgm:prSet presAssocID="{6944B575-3AD5-4AF0-B294-CD7E425376B0}" presName="FourNodes_1" presStyleLbl="node1" presStyleIdx="0" presStyleCnt="4">
        <dgm:presLayoutVars>
          <dgm:bulletEnabled val="1"/>
        </dgm:presLayoutVars>
      </dgm:prSet>
      <dgm:spPr/>
    </dgm:pt>
    <dgm:pt modelId="{6ED02C0F-2E3E-481F-89D8-E776E0205DC9}" type="pres">
      <dgm:prSet presAssocID="{6944B575-3AD5-4AF0-B294-CD7E425376B0}" presName="FourNodes_2" presStyleLbl="node1" presStyleIdx="1" presStyleCnt="4">
        <dgm:presLayoutVars>
          <dgm:bulletEnabled val="1"/>
        </dgm:presLayoutVars>
      </dgm:prSet>
      <dgm:spPr/>
    </dgm:pt>
    <dgm:pt modelId="{A217C72A-4E10-4ED3-9E2D-127CF33EA888}" type="pres">
      <dgm:prSet presAssocID="{6944B575-3AD5-4AF0-B294-CD7E425376B0}" presName="FourNodes_3" presStyleLbl="node1" presStyleIdx="2" presStyleCnt="4">
        <dgm:presLayoutVars>
          <dgm:bulletEnabled val="1"/>
        </dgm:presLayoutVars>
      </dgm:prSet>
      <dgm:spPr/>
    </dgm:pt>
    <dgm:pt modelId="{54F81BDF-2BC7-45EE-BEC7-A0E70C43C171}" type="pres">
      <dgm:prSet presAssocID="{6944B575-3AD5-4AF0-B294-CD7E425376B0}" presName="FourNodes_4" presStyleLbl="node1" presStyleIdx="3" presStyleCnt="4">
        <dgm:presLayoutVars>
          <dgm:bulletEnabled val="1"/>
        </dgm:presLayoutVars>
      </dgm:prSet>
      <dgm:spPr/>
    </dgm:pt>
    <dgm:pt modelId="{AF0B3066-7F9F-40FA-A0AE-E2D02CB86328}" type="pres">
      <dgm:prSet presAssocID="{6944B575-3AD5-4AF0-B294-CD7E425376B0}" presName="FourConn_1-2" presStyleLbl="fgAccFollowNode1" presStyleIdx="0" presStyleCnt="3">
        <dgm:presLayoutVars>
          <dgm:bulletEnabled val="1"/>
        </dgm:presLayoutVars>
      </dgm:prSet>
      <dgm:spPr/>
    </dgm:pt>
    <dgm:pt modelId="{85C0342D-39FE-40D3-B37D-852A426895B8}" type="pres">
      <dgm:prSet presAssocID="{6944B575-3AD5-4AF0-B294-CD7E425376B0}" presName="FourConn_2-3" presStyleLbl="fgAccFollowNode1" presStyleIdx="1" presStyleCnt="3">
        <dgm:presLayoutVars>
          <dgm:bulletEnabled val="1"/>
        </dgm:presLayoutVars>
      </dgm:prSet>
      <dgm:spPr/>
    </dgm:pt>
    <dgm:pt modelId="{5376C3BA-5500-432F-AC24-3FD55EBFBB40}" type="pres">
      <dgm:prSet presAssocID="{6944B575-3AD5-4AF0-B294-CD7E425376B0}" presName="FourConn_3-4" presStyleLbl="fgAccFollowNode1" presStyleIdx="2" presStyleCnt="3">
        <dgm:presLayoutVars>
          <dgm:bulletEnabled val="1"/>
        </dgm:presLayoutVars>
      </dgm:prSet>
      <dgm:spPr/>
    </dgm:pt>
    <dgm:pt modelId="{FD51F1DF-1D29-4A46-AA65-49F7E1E37D3D}" type="pres">
      <dgm:prSet presAssocID="{6944B575-3AD5-4AF0-B294-CD7E425376B0}" presName="FourNodes_1_text" presStyleLbl="node1" presStyleIdx="3" presStyleCnt="4">
        <dgm:presLayoutVars>
          <dgm:bulletEnabled val="1"/>
        </dgm:presLayoutVars>
      </dgm:prSet>
      <dgm:spPr/>
    </dgm:pt>
    <dgm:pt modelId="{DCF6BF8B-5C44-40F0-AD06-14EA6E4949E4}" type="pres">
      <dgm:prSet presAssocID="{6944B575-3AD5-4AF0-B294-CD7E425376B0}" presName="FourNodes_2_text" presStyleLbl="node1" presStyleIdx="3" presStyleCnt="4">
        <dgm:presLayoutVars>
          <dgm:bulletEnabled val="1"/>
        </dgm:presLayoutVars>
      </dgm:prSet>
      <dgm:spPr/>
    </dgm:pt>
    <dgm:pt modelId="{AC25F2B2-75F4-4D1A-966C-2190AEE35F6E}" type="pres">
      <dgm:prSet presAssocID="{6944B575-3AD5-4AF0-B294-CD7E425376B0}" presName="FourNodes_3_text" presStyleLbl="node1" presStyleIdx="3" presStyleCnt="4">
        <dgm:presLayoutVars>
          <dgm:bulletEnabled val="1"/>
        </dgm:presLayoutVars>
      </dgm:prSet>
      <dgm:spPr/>
    </dgm:pt>
    <dgm:pt modelId="{569F83F8-C81F-4C20-B60D-90FFFAC6F6EC}" type="pres">
      <dgm:prSet presAssocID="{6944B575-3AD5-4AF0-B294-CD7E425376B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8E54C03-76ED-4FBE-AA75-AC16FB583814}" type="presOf" srcId="{7B656DCD-D84E-44FE-B1F9-CAF208CA3F38}" destId="{54F81BDF-2BC7-45EE-BEC7-A0E70C43C171}" srcOrd="0" destOrd="0" presId="urn:microsoft.com/office/officeart/2005/8/layout/vProcess5"/>
    <dgm:cxn modelId="{5780E314-11EB-4938-A7AC-D365D5A8FC55}" srcId="{6944B575-3AD5-4AF0-B294-CD7E425376B0}" destId="{A2CD0BC0-9CFF-4E25-B58B-A63FB43792E3}" srcOrd="2" destOrd="0" parTransId="{ECCD4C22-95C6-4F79-A3BE-DFFC876E22DF}" sibTransId="{2A633EB1-CF2A-4C83-9C13-98AB56DC73F5}"/>
    <dgm:cxn modelId="{DFD8131B-759F-4934-B645-B42AE001FFA6}" type="presOf" srcId="{7B656DCD-D84E-44FE-B1F9-CAF208CA3F38}" destId="{569F83F8-C81F-4C20-B60D-90FFFAC6F6EC}" srcOrd="1" destOrd="0" presId="urn:microsoft.com/office/officeart/2005/8/layout/vProcess5"/>
    <dgm:cxn modelId="{0BAE9D24-9930-4030-B63F-35381AC3C1AA}" srcId="{6944B575-3AD5-4AF0-B294-CD7E425376B0}" destId="{7B656DCD-D84E-44FE-B1F9-CAF208CA3F38}" srcOrd="3" destOrd="0" parTransId="{C7028DE5-671B-4932-9E3E-ADC138482EE9}" sibTransId="{B88DC9DD-3198-4355-8E68-F1405BEE640E}"/>
    <dgm:cxn modelId="{684A1635-9CD3-46FA-AD98-C5304F6DB88F}" type="presOf" srcId="{A2CD0BC0-9CFF-4E25-B58B-A63FB43792E3}" destId="{A217C72A-4E10-4ED3-9E2D-127CF33EA888}" srcOrd="0" destOrd="0" presId="urn:microsoft.com/office/officeart/2005/8/layout/vProcess5"/>
    <dgm:cxn modelId="{3BB7417F-C56A-4632-B554-3D33E71070DC}" type="presOf" srcId="{CA860AC5-7436-4094-B848-8797CCEE03FE}" destId="{6ED02C0F-2E3E-481F-89D8-E776E0205DC9}" srcOrd="0" destOrd="0" presId="urn:microsoft.com/office/officeart/2005/8/layout/vProcess5"/>
    <dgm:cxn modelId="{7D9C0682-0B7C-4A58-9B46-4759D3179349}" type="presOf" srcId="{6944B575-3AD5-4AF0-B294-CD7E425376B0}" destId="{66727A6E-3246-468F-8FA4-F303D979292E}" srcOrd="0" destOrd="0" presId="urn:microsoft.com/office/officeart/2005/8/layout/vProcess5"/>
    <dgm:cxn modelId="{29E68082-421C-4C5F-9E7A-1A2C9CDBCDF7}" type="presOf" srcId="{2640F4FD-676B-4D9E-BF9C-7550F14BC21D}" destId="{85C0342D-39FE-40D3-B37D-852A426895B8}" srcOrd="0" destOrd="0" presId="urn:microsoft.com/office/officeart/2005/8/layout/vProcess5"/>
    <dgm:cxn modelId="{F25BD5B2-3CF5-447D-B8B7-AED4583149E6}" type="presOf" srcId="{2A633EB1-CF2A-4C83-9C13-98AB56DC73F5}" destId="{5376C3BA-5500-432F-AC24-3FD55EBFBB40}" srcOrd="0" destOrd="0" presId="urn:microsoft.com/office/officeart/2005/8/layout/vProcess5"/>
    <dgm:cxn modelId="{23D1C4C0-7AE6-4171-B838-2A5A27D76CC0}" type="presOf" srcId="{CA860AC5-7436-4094-B848-8797CCEE03FE}" destId="{DCF6BF8B-5C44-40F0-AD06-14EA6E4949E4}" srcOrd="1" destOrd="0" presId="urn:microsoft.com/office/officeart/2005/8/layout/vProcess5"/>
    <dgm:cxn modelId="{82FAABD7-4C3F-45E1-84EA-D48043B7936D}" type="presOf" srcId="{A2CD0BC0-9CFF-4E25-B58B-A63FB43792E3}" destId="{AC25F2B2-75F4-4D1A-966C-2190AEE35F6E}" srcOrd="1" destOrd="0" presId="urn:microsoft.com/office/officeart/2005/8/layout/vProcess5"/>
    <dgm:cxn modelId="{106EC3DB-BC64-4127-8C62-5B2AD53827EE}" type="presOf" srcId="{CB4D5423-364E-41FA-AE0B-4AA79E7EA549}" destId="{462CA42A-FABD-4836-8E95-6264116C8AA5}" srcOrd="0" destOrd="0" presId="urn:microsoft.com/office/officeart/2005/8/layout/vProcess5"/>
    <dgm:cxn modelId="{24414FF1-08EE-440C-B0F0-F22ABDE278E6}" type="presOf" srcId="{CB4D5423-364E-41FA-AE0B-4AA79E7EA549}" destId="{FD51F1DF-1D29-4A46-AA65-49F7E1E37D3D}" srcOrd="1" destOrd="0" presId="urn:microsoft.com/office/officeart/2005/8/layout/vProcess5"/>
    <dgm:cxn modelId="{01709DF5-BC96-467A-B9F0-C22D72856E68}" srcId="{6944B575-3AD5-4AF0-B294-CD7E425376B0}" destId="{CA860AC5-7436-4094-B848-8797CCEE03FE}" srcOrd="1" destOrd="0" parTransId="{8E8CD2F8-10D7-4A79-BFB8-FECCB5919677}" sibTransId="{2640F4FD-676B-4D9E-BF9C-7550F14BC21D}"/>
    <dgm:cxn modelId="{5DE5F9F5-2C37-457B-976F-E9DBC62F97EA}" type="presOf" srcId="{4105DFC0-55E1-485D-9068-B3BF64DFACB5}" destId="{AF0B3066-7F9F-40FA-A0AE-E2D02CB86328}" srcOrd="0" destOrd="0" presId="urn:microsoft.com/office/officeart/2005/8/layout/vProcess5"/>
    <dgm:cxn modelId="{955170FC-9720-4EB9-9AC1-D55325C7AEE9}" srcId="{6944B575-3AD5-4AF0-B294-CD7E425376B0}" destId="{CB4D5423-364E-41FA-AE0B-4AA79E7EA549}" srcOrd="0" destOrd="0" parTransId="{B92177F6-D688-467C-A467-3B503DE55211}" sibTransId="{4105DFC0-55E1-485D-9068-B3BF64DFACB5}"/>
    <dgm:cxn modelId="{98FBC6F1-225B-46D0-931D-1D72BA2E1D94}" type="presParOf" srcId="{66727A6E-3246-468F-8FA4-F303D979292E}" destId="{0EC57BD6-7AB1-4832-AD65-9191E3819F5B}" srcOrd="0" destOrd="0" presId="urn:microsoft.com/office/officeart/2005/8/layout/vProcess5"/>
    <dgm:cxn modelId="{58F8B2D6-A9DF-41E1-874B-F2C1BE347DB6}" type="presParOf" srcId="{66727A6E-3246-468F-8FA4-F303D979292E}" destId="{462CA42A-FABD-4836-8E95-6264116C8AA5}" srcOrd="1" destOrd="0" presId="urn:microsoft.com/office/officeart/2005/8/layout/vProcess5"/>
    <dgm:cxn modelId="{1681482B-51B8-4096-983C-5F8925373379}" type="presParOf" srcId="{66727A6E-3246-468F-8FA4-F303D979292E}" destId="{6ED02C0F-2E3E-481F-89D8-E776E0205DC9}" srcOrd="2" destOrd="0" presId="urn:microsoft.com/office/officeart/2005/8/layout/vProcess5"/>
    <dgm:cxn modelId="{23473541-21A3-4CE9-AF68-0EC9664F571E}" type="presParOf" srcId="{66727A6E-3246-468F-8FA4-F303D979292E}" destId="{A217C72A-4E10-4ED3-9E2D-127CF33EA888}" srcOrd="3" destOrd="0" presId="urn:microsoft.com/office/officeart/2005/8/layout/vProcess5"/>
    <dgm:cxn modelId="{A2B6DB45-6333-4FCC-B5FA-DD0DC3E8C765}" type="presParOf" srcId="{66727A6E-3246-468F-8FA4-F303D979292E}" destId="{54F81BDF-2BC7-45EE-BEC7-A0E70C43C171}" srcOrd="4" destOrd="0" presId="urn:microsoft.com/office/officeart/2005/8/layout/vProcess5"/>
    <dgm:cxn modelId="{BA25B693-9EA9-4502-91C7-203BACF18792}" type="presParOf" srcId="{66727A6E-3246-468F-8FA4-F303D979292E}" destId="{AF0B3066-7F9F-40FA-A0AE-E2D02CB86328}" srcOrd="5" destOrd="0" presId="urn:microsoft.com/office/officeart/2005/8/layout/vProcess5"/>
    <dgm:cxn modelId="{8C415AB0-E108-4647-9B48-03E2ADECF385}" type="presParOf" srcId="{66727A6E-3246-468F-8FA4-F303D979292E}" destId="{85C0342D-39FE-40D3-B37D-852A426895B8}" srcOrd="6" destOrd="0" presId="urn:microsoft.com/office/officeart/2005/8/layout/vProcess5"/>
    <dgm:cxn modelId="{FBF60A3E-4C11-444E-81E4-7B2440B35216}" type="presParOf" srcId="{66727A6E-3246-468F-8FA4-F303D979292E}" destId="{5376C3BA-5500-432F-AC24-3FD55EBFBB40}" srcOrd="7" destOrd="0" presId="urn:microsoft.com/office/officeart/2005/8/layout/vProcess5"/>
    <dgm:cxn modelId="{C7600DB1-0350-4FF6-9949-A94040AAEE46}" type="presParOf" srcId="{66727A6E-3246-468F-8FA4-F303D979292E}" destId="{FD51F1DF-1D29-4A46-AA65-49F7E1E37D3D}" srcOrd="8" destOrd="0" presId="urn:microsoft.com/office/officeart/2005/8/layout/vProcess5"/>
    <dgm:cxn modelId="{E863EB65-931D-48EC-B5A5-DAC3128A1684}" type="presParOf" srcId="{66727A6E-3246-468F-8FA4-F303D979292E}" destId="{DCF6BF8B-5C44-40F0-AD06-14EA6E4949E4}" srcOrd="9" destOrd="0" presId="urn:microsoft.com/office/officeart/2005/8/layout/vProcess5"/>
    <dgm:cxn modelId="{5A5C1789-1CFE-4939-A7F1-D6F30AB34976}" type="presParOf" srcId="{66727A6E-3246-468F-8FA4-F303D979292E}" destId="{AC25F2B2-75F4-4D1A-966C-2190AEE35F6E}" srcOrd="10" destOrd="0" presId="urn:microsoft.com/office/officeart/2005/8/layout/vProcess5"/>
    <dgm:cxn modelId="{AB1E7766-CD0E-4C7E-96F0-A80E98A5DBBD}" type="presParOf" srcId="{66727A6E-3246-468F-8FA4-F303D979292E}" destId="{569F83F8-C81F-4C20-B60D-90FFFAC6F6E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CA42A-FABD-4836-8E95-6264116C8AA5}">
      <dsp:nvSpPr>
        <dsp:cNvPr id="0" name=""/>
        <dsp:cNvSpPr/>
      </dsp:nvSpPr>
      <dsp:spPr>
        <a:xfrm>
          <a:off x="0" y="0"/>
          <a:ext cx="6617970" cy="839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Timski rad</a:t>
          </a:r>
          <a:endParaRPr lang="en-US" sz="2500" kern="1200"/>
        </a:p>
      </dsp:txBody>
      <dsp:txXfrm>
        <a:off x="24578" y="24578"/>
        <a:ext cx="5641562" cy="789985"/>
      </dsp:txXfrm>
    </dsp:sp>
    <dsp:sp modelId="{6ED02C0F-2E3E-481F-89D8-E776E0205DC9}">
      <dsp:nvSpPr>
        <dsp:cNvPr id="0" name=""/>
        <dsp:cNvSpPr/>
      </dsp:nvSpPr>
      <dsp:spPr>
        <a:xfrm>
          <a:off x="554255" y="991713"/>
          <a:ext cx="6617970" cy="839141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Deployment</a:t>
          </a:r>
          <a:endParaRPr lang="en-US" sz="2500" kern="1200"/>
        </a:p>
      </dsp:txBody>
      <dsp:txXfrm>
        <a:off x="578833" y="1016291"/>
        <a:ext cx="5469117" cy="789985"/>
      </dsp:txXfrm>
    </dsp:sp>
    <dsp:sp modelId="{A217C72A-4E10-4ED3-9E2D-127CF33EA888}">
      <dsp:nvSpPr>
        <dsp:cNvPr id="0" name=""/>
        <dsp:cNvSpPr/>
      </dsp:nvSpPr>
      <dsp:spPr>
        <a:xfrm>
          <a:off x="1100237" y="1983426"/>
          <a:ext cx="6617970" cy="839141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Bazu nije dovoljno „samo” nacrtati</a:t>
          </a:r>
          <a:endParaRPr lang="en-US" sz="2500" kern="1200"/>
        </a:p>
      </dsp:txBody>
      <dsp:txXfrm>
        <a:off x="1124815" y="2008004"/>
        <a:ext cx="5477389" cy="789985"/>
      </dsp:txXfrm>
    </dsp:sp>
    <dsp:sp modelId="{54F81BDF-2BC7-45EE-BEC7-A0E70C43C171}">
      <dsp:nvSpPr>
        <dsp:cNvPr id="0" name=""/>
        <dsp:cNvSpPr/>
      </dsp:nvSpPr>
      <dsp:spPr>
        <a:xfrm>
          <a:off x="1654492" y="2975139"/>
          <a:ext cx="6617970" cy="839141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Testovi nisu „jednom napisani i gotovi”</a:t>
          </a:r>
          <a:endParaRPr lang="en-US" sz="2500" kern="1200"/>
        </a:p>
      </dsp:txBody>
      <dsp:txXfrm>
        <a:off x="1679070" y="2999717"/>
        <a:ext cx="5469117" cy="789985"/>
      </dsp:txXfrm>
    </dsp:sp>
    <dsp:sp modelId="{AF0B3066-7F9F-40FA-A0AE-E2D02CB86328}">
      <dsp:nvSpPr>
        <dsp:cNvPr id="0" name=""/>
        <dsp:cNvSpPr/>
      </dsp:nvSpPr>
      <dsp:spPr>
        <a:xfrm>
          <a:off x="6072528" y="642706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95252" y="642706"/>
        <a:ext cx="299994" cy="410445"/>
      </dsp:txXfrm>
    </dsp:sp>
    <dsp:sp modelId="{85C0342D-39FE-40D3-B37D-852A426895B8}">
      <dsp:nvSpPr>
        <dsp:cNvPr id="0" name=""/>
        <dsp:cNvSpPr/>
      </dsp:nvSpPr>
      <dsp:spPr>
        <a:xfrm>
          <a:off x="6626783" y="1634419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749507" y="1634419"/>
        <a:ext cx="299994" cy="410445"/>
      </dsp:txXfrm>
    </dsp:sp>
    <dsp:sp modelId="{5376C3BA-5500-432F-AC24-3FD55EBFBB40}">
      <dsp:nvSpPr>
        <dsp:cNvPr id="0" name=""/>
        <dsp:cNvSpPr/>
      </dsp:nvSpPr>
      <dsp:spPr>
        <a:xfrm>
          <a:off x="7172765" y="2626132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295489" y="2626132"/>
        <a:ext cx="299994" cy="41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Što aplikacija rješava?</a:t>
            </a:r>
          </a:p>
          <a:p>
            <a:pPr lvl="0"/>
            <a:r>
              <a:rPr lang="hr-HR" altLang="sr-Latn-RS" dirty="0"/>
              <a:t>Cilj: Glavna svrha i funkcionalnosti aplikacije.</a:t>
            </a:r>
          </a:p>
          <a:p>
            <a:pPr lvl="0"/>
            <a:r>
              <a:rPr lang="hr-HR" altLang="sr-Latn-RS" dirty="0"/>
              <a:t>Postoji li slično rješenje? Što je Vaša prednost?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  <a:r>
              <a:rPr lang="hr-HR" noProof="0" dirty="0"/>
              <a:t> (max. 1 slajd)</a:t>
            </a:r>
          </a:p>
          <a:p>
            <a:r>
              <a:rPr lang="hr-HR" noProof="0" dirty="0"/>
              <a:t>Nefunkcionalni i zahtjevi domene primjene (max. 1 slajd)</a:t>
            </a:r>
          </a:p>
          <a:p>
            <a:r>
              <a:rPr lang="hr-HR" i="1" noProof="0" dirty="0"/>
              <a:t>U usmenom izlaganju ukratko raspravite samo o primjerima glavnih izazova i povežite ih sa sljedećim slajdom dijagrama slučajeva upotrebe UML-a!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8073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 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863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noProof="0" dirty="0"/>
              <a:t>za izradu programske podrške , ispitivanje, dokumentaciju, komunikaciju i upravljanje</a:t>
            </a:r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63520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 (korištene platforme/SW ....)</a:t>
            </a:r>
          </a:p>
          <a:p>
            <a:pPr lvl="1"/>
            <a:r>
              <a:rPr lang="hr-HR" noProof="0" dirty="0"/>
              <a:t>GitHub iskustvo</a:t>
            </a:r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Primijenjeni model životnog ciklusa</a:t>
            </a:r>
          </a:p>
          <a:p>
            <a:pPr lvl="1"/>
            <a:r>
              <a:rPr lang="hr-HR" noProof="0" dirty="0"/>
              <a:t>ad-hoc, vodopadni,….</a:t>
            </a:r>
          </a:p>
          <a:p>
            <a:r>
              <a:rPr lang="hr-HR" noProof="0" dirty="0"/>
              <a:t>Tablica raščlambe zadataka članova s procijenjenim naporom u satima (jedan slajd)</a:t>
            </a:r>
          </a:p>
          <a:p>
            <a:pPr lvl="1"/>
            <a:r>
              <a:rPr lang="hr-HR" i="1" noProof="0" dirty="0"/>
              <a:t>U usmenom izlaganju samo diskutirajte o glavnim problemima rasporeda i svom iskustvu za njihovo rješavanje (npr. preuzimanje zadataka drugih članova ...)</a:t>
            </a:r>
          </a:p>
          <a:p>
            <a:r>
              <a:rPr lang="hr-HR" noProof="0" dirty="0"/>
              <a:t>Vremenski okvir razvoja (specifikacija, implementacija, testiranje, dokumentacija)</a:t>
            </a:r>
          </a:p>
          <a:p>
            <a:pPr lvl="1"/>
            <a:r>
              <a:rPr lang="hr-HR" noProof="0" dirty="0"/>
              <a:t>Poželjan grafički prikaz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23076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9495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/>
              <a:t>PLAYTRADE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04</a:t>
            </a:r>
            <a:r>
              <a:rPr lang="hr-HR" sz="1400" noProof="0" dirty="0"/>
              <a:t>.</a:t>
            </a:r>
            <a:r>
              <a:rPr lang="hr-HR" sz="1400" dirty="0"/>
              <a:t>2</a:t>
            </a:r>
            <a:r>
              <a:rPr lang="hr-HR" sz="1400" noProof="0" dirty="0"/>
              <a:t> STIROPOR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Hacek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Frontend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Bilić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Frontend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</a:t>
            </a:r>
            <a:r>
              <a:rPr lang="en-US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Čečura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</a:t>
            </a:r>
            <a:r>
              <a:rPr lang="en-US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Levanić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</a:t>
            </a:r>
            <a:r>
              <a:rPr lang="en-US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Grgečić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Hukić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endParaRPr lang="en-US" dirty="0"/>
          </a:p>
          <a:p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Grden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DevOps &amp;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Dokumentacija</a:t>
            </a:r>
            <a:endParaRPr lang="en-US" dirty="0"/>
          </a:p>
          <a:p>
            <a:pPr marL="0" indent="0">
              <a:buNone/>
            </a:pP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 omogućuje p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regled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oglasa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pretrag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kriterijima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važnim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igračima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ponuda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zamjene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obavijesti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email</a:t>
            </a:r>
            <a:endParaRPr lang="hr-HR" altLang="sr-Latn-RS" b="1" dirty="0"/>
          </a:p>
          <a:p>
            <a:pPr lvl="0"/>
            <a:r>
              <a:rPr lang="hr-HR" altLang="sr-Latn-RS" dirty="0"/>
              <a:t>Cilj: razmjena društvenih igara</a:t>
            </a:r>
          </a:p>
          <a:p>
            <a:pPr lvl="0"/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igara po karakteristikama, lokacija korisnika, jednostavnost i intuitivnost</a:t>
            </a: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FUNKCIJSKI</a:t>
            </a:r>
            <a:r>
              <a:rPr lang="hr-HR" noProof="0" dirty="0"/>
              <a:t> zahtjevI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b="1" dirty="0"/>
              <a:t>Autentifikacija</a:t>
            </a:r>
            <a:r>
              <a:rPr lang="hr-HR" dirty="0"/>
              <a:t>: prijava/registracija putem Google OAuth2 i odjava.</a:t>
            </a:r>
            <a:endParaRPr lang="en-US" dirty="0"/>
          </a:p>
          <a:p>
            <a:r>
              <a:rPr lang="hr-HR" b="1" dirty="0"/>
              <a:t>Gost pregled</a:t>
            </a:r>
            <a:r>
              <a:rPr lang="hr-HR" dirty="0"/>
              <a:t>: neregistrirani korisnik može pregledati popis igara (read-only).</a:t>
            </a:r>
          </a:p>
          <a:p>
            <a:r>
              <a:rPr lang="hr-HR" b="1" dirty="0"/>
              <a:t>Korisnički profil</a:t>
            </a:r>
            <a:r>
              <a:rPr lang="hr-HR" dirty="0"/>
              <a:t> s obveznom lokacijom, fotografijom, opisom i favoritnim kategorijama.</a:t>
            </a:r>
            <a:r>
              <a:rPr lang="hr-HR" b="1" dirty="0"/>
              <a:t>Oglasi igara (CRUD)</a:t>
            </a:r>
            <a:r>
              <a:rPr lang="hr-HR" dirty="0"/>
              <a:t>: dodaj/uredi/obriši oglas s fotografijama; metapodaci: naziv, žanr, godina, stanje, broj igrača, vrijeme igranja, težina, opis.</a:t>
            </a:r>
          </a:p>
          <a:p>
            <a:r>
              <a:rPr lang="hr-HR" b="1" dirty="0"/>
              <a:t>Karta</a:t>
            </a:r>
            <a:r>
              <a:rPr lang="hr-HR" dirty="0"/>
              <a:t>: prikaz pinova oglasa u blizini korisnikove lokacije.</a:t>
            </a:r>
          </a:p>
          <a:p>
            <a:r>
              <a:rPr lang="hr-HR" b="1" dirty="0"/>
              <a:t>Pretraga i filtriranje</a:t>
            </a:r>
            <a:r>
              <a:rPr lang="hr-HR" dirty="0"/>
              <a:t>: po žanru, broju igrača, težini, stanju i udaljenosti; </a:t>
            </a:r>
            <a:r>
              <a:rPr lang="hr-HR" b="1" dirty="0"/>
              <a:t>predlaganje zamjena</a:t>
            </a:r>
            <a:r>
              <a:rPr lang="hr-HR" dirty="0"/>
              <a:t> na temelju podudarnosti.</a:t>
            </a:r>
          </a:p>
          <a:p>
            <a:r>
              <a:rPr lang="hr-HR" b="1" dirty="0"/>
              <a:t>Ponudi zamjenu</a:t>
            </a:r>
            <a:r>
              <a:rPr lang="hr-HR" dirty="0"/>
              <a:t>: za odabrani oglas korisnik bira jednu ili više svojih igara; primatelj može </a:t>
            </a:r>
            <a:r>
              <a:rPr lang="hr-HR" b="1" dirty="0"/>
              <a:t>prihvatiti/odbijati/urediti</a:t>
            </a:r>
            <a:r>
              <a:rPr lang="hr-HR" dirty="0"/>
              <a:t> ponudu.</a:t>
            </a:r>
          </a:p>
          <a:p>
            <a:endParaRPr lang="hr-HR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2525-E04A-D178-0599-24FC906C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FUNKCIJSKI ZAHTJEVI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7B91-B459-87F5-D7B0-1A9ED26C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b="1" dirty="0"/>
              <a:t>Obavijesti</a:t>
            </a:r>
            <a:r>
              <a:rPr lang="hr-HR" dirty="0"/>
              <a:t>: badge u aplikaciji i e-mail poruke (real-time gdje je moguće) za nove ponude i promjene statusa.</a:t>
            </a:r>
          </a:p>
          <a:p>
            <a:r>
              <a:rPr lang="nn-NO" b="1" dirty="0"/>
              <a:t>Uloge i prava</a:t>
            </a:r>
            <a:r>
              <a:rPr lang="nn-NO" dirty="0"/>
              <a:t>: korisnik i admin.</a:t>
            </a:r>
            <a:endParaRPr lang="hr-HR" dirty="0"/>
          </a:p>
          <a:p>
            <a:r>
              <a:rPr lang="nb-NO" b="1" dirty="0"/>
              <a:t>Administracija/moderiranje</a:t>
            </a:r>
            <a:r>
              <a:rPr lang="nb-NO" dirty="0"/>
              <a:t>: admin može pregledati, sakriti ili obrisati neprimjerene oglase; vidjeti prijave korisnika.</a:t>
            </a:r>
            <a:endParaRPr lang="hr-HR" dirty="0"/>
          </a:p>
          <a:p>
            <a:r>
              <a:rPr lang="hr-HR" b="1" dirty="0"/>
              <a:t>Moje igre</a:t>
            </a:r>
            <a:r>
              <a:rPr lang="hr-HR" dirty="0"/>
              <a:t>: korisnik može pregledati listu svojih igara.</a:t>
            </a:r>
          </a:p>
          <a:p>
            <a:r>
              <a:rPr lang="hr-HR" b="1" dirty="0"/>
              <a:t>Pregled ponude</a:t>
            </a:r>
            <a:r>
              <a:rPr lang="hr-HR" dirty="0"/>
              <a:t>: korisnik može pregledati sve poslane i primljene ponude za zamjenu, s prikazom njihovog trenutnog statusa.</a:t>
            </a:r>
          </a:p>
          <a:p>
            <a:r>
              <a:rPr lang="hr-HR" b="1" dirty="0"/>
              <a:t>Registracija e-mail + lozinka</a:t>
            </a:r>
            <a:r>
              <a:rPr lang="hr-HR" dirty="0"/>
              <a:t>: korisnik se može registrirati unosom e-mail adrese i lozinke (bez Google računa).</a:t>
            </a:r>
          </a:p>
          <a:p>
            <a:r>
              <a:rPr lang="hr-HR" b="1" dirty="0"/>
              <a:t>Prijava e-mail + lozinka</a:t>
            </a:r>
            <a:r>
              <a:rPr lang="hr-HR" dirty="0"/>
              <a:t>: korisnik se može prijaviti u sustav korištenjem e-mail adrese i lozinke.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9F67-2B04-2CAD-92E1-3AA85737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537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AB9A-81AF-9752-B8AF-10DBA8D6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NEFUNKCIJSKI ZAHTJEVI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C1D5-50B6-CDF8-C2A9-0AD4B52C2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Zahtjevi za performanse</a:t>
            </a:r>
          </a:p>
          <a:p>
            <a:endParaRPr lang="hr-HR" b="1" dirty="0"/>
          </a:p>
          <a:p>
            <a:r>
              <a:rPr lang="hr-HR" b="1" dirty="0"/>
              <a:t>Zahtjevi za korisničko iskustvo</a:t>
            </a:r>
          </a:p>
          <a:p>
            <a:endParaRPr lang="pl-PL" b="1" dirty="0"/>
          </a:p>
          <a:p>
            <a:r>
              <a:rPr lang="pl-PL" b="1" dirty="0"/>
              <a:t>Zahtjevi za sigurnost i privatnost</a:t>
            </a:r>
          </a:p>
          <a:p>
            <a:endParaRPr lang="hr-HR" b="1" dirty="0"/>
          </a:p>
          <a:p>
            <a:r>
              <a:rPr lang="hr-HR" b="1" dirty="0"/>
              <a:t>Pouzdanost i održavanje</a:t>
            </a:r>
          </a:p>
          <a:p>
            <a:endParaRPr lang="hr-HR" b="1" dirty="0"/>
          </a:p>
          <a:p>
            <a:r>
              <a:rPr lang="hr-HR" b="1" dirty="0"/>
              <a:t>Skalabilnost i arhitektura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874F8-ADA9-DF3F-65C4-1111DE91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136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7" name="Picture 4" descr="Alt text">
            <a:extLst>
              <a:ext uri="{FF2B5EF4-FFF2-40B4-BE49-F238E27FC236}">
                <a16:creationId xmlns:a16="http://schemas.microsoft.com/office/drawing/2014/main" id="{34494E82-1783-EB96-A1A5-580FB489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2" y="1011171"/>
            <a:ext cx="7227328" cy="584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2A1C-C82B-7855-94B8-3E64A405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alati I TEHNOLOGIJE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CB02A-8BE4-EB6C-237C-01DE07417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423801" cy="436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hr-HR" b="1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Boot 3.5.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(Hibernate)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(OAuth2) + JJWT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(Render), H2 (test)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wrapper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hr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C6119-DACE-F1EB-9D89-5ECCAB1B0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972000"/>
            <a:ext cx="4500001" cy="2628450"/>
          </a:xfrm>
        </p:spPr>
        <p:txBody>
          <a:bodyPr/>
          <a:lstStyle/>
          <a:p>
            <a:pPr marL="0" indent="0">
              <a:buNone/>
            </a:pPr>
            <a:r>
              <a:rPr lang="hr-HR" b="1" dirty="0" err="1"/>
              <a:t>Frontend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React Router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Leaflet / React Leaflet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IDE (E2E)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1F627-BF4B-5CC9-F084-25BD1C4F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AB2734-D0E4-6855-D5E2-FB88BAE93A64}"/>
              </a:ext>
            </a:extLst>
          </p:cNvPr>
          <p:cNvSpPr txBox="1">
            <a:spLocks/>
          </p:cNvSpPr>
          <p:nvPr/>
        </p:nvSpPr>
        <p:spPr>
          <a:xfrm>
            <a:off x="3994269" y="3467388"/>
            <a:ext cx="4554991" cy="30336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252000" indent="-2520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6000" indent="-252000" algn="l" defTabSz="257175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hr-HR" b="1" dirty="0" err="1"/>
              <a:t>DevOps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(CI/CD)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</a:t>
            </a: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hr-HR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Static Website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4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ABFA-E628-3D43-7D68-2B21D31D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DIJAGRAM RAZMJEŠTAJA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E9ECA-D38A-6F84-EEDB-DB054F12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AF01E6-3DA3-3025-A422-820B5BA34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229" y="971550"/>
            <a:ext cx="79200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9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DIJAGRAM KOMPONENATA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 visokoj razini apstrakcije</a:t>
            </a:r>
          </a:p>
          <a:p>
            <a:r>
              <a:rPr lang="hr-HR" noProof="0" dirty="0"/>
              <a:t>Dijagram arhitekture (komponente, slojevi, povezivanje).</a:t>
            </a:r>
          </a:p>
          <a:p>
            <a:r>
              <a:rPr lang="hr-HR" i="1" noProof="0" dirty="0"/>
              <a:t>Po potrebi: UML dijagram razreda i razmještaja.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7" name="Slika 6" descr="Slika na kojoj se prikazuje tekst, snimka zaslona, dijagram, Trokut&#10;&#10;Sadržaj generiran uz AI možda nije točan.">
            <a:extLst>
              <a:ext uri="{FF2B5EF4-FFF2-40B4-BE49-F238E27FC236}">
                <a16:creationId xmlns:a16="http://schemas.microsoft.com/office/drawing/2014/main" id="{8B316B5C-4033-3756-2E26-99B4A3DD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8" y="864261"/>
            <a:ext cx="9000000" cy="412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pic>
        <p:nvPicPr>
          <p:cNvPr id="6" name="Slika 5" descr="Slika na kojoj se prikazuje tekst, snimka zaslona, Font, dizajn&#10;&#10;Sadržaj generiran uz AI možda nije točan.">
            <a:extLst>
              <a:ext uri="{FF2B5EF4-FFF2-40B4-BE49-F238E27FC236}">
                <a16:creationId xmlns:a16="http://schemas.microsoft.com/office/drawing/2014/main" id="{D6F8FAB2-BE45-29F6-F7BE-E16922B6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35" y="1289050"/>
            <a:ext cx="3592665" cy="4641850"/>
          </a:xfrm>
          <a:prstGeom prst="rect">
            <a:avLst/>
          </a:prstGeom>
        </p:spPr>
      </p:pic>
      <p:pic>
        <p:nvPicPr>
          <p:cNvPr id="1026" name="Picture 2" descr="Automation Testing Selenium - A Step by Step Guide for Beginners">
            <a:extLst>
              <a:ext uri="{FF2B5EF4-FFF2-40B4-BE49-F238E27FC236}">
                <a16:creationId xmlns:a16="http://schemas.microsoft.com/office/drawing/2014/main" id="{E61853B9-37D8-186B-00D1-DA1AA7FC4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1158567"/>
            <a:ext cx="4102100" cy="222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ring Mvc Junit5 Spring Boot Test Controller Junit Spring Boot Controller  Junit5 Spring Boot Testing">
            <a:extLst>
              <a:ext uri="{FF2B5EF4-FFF2-40B4-BE49-F238E27FC236}">
                <a16:creationId xmlns:a16="http://schemas.microsoft.com/office/drawing/2014/main" id="{985E17E5-9261-B411-8752-5919D489E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946" y="3308350"/>
            <a:ext cx="4250814" cy="239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43B05A4-157F-403C-939A-ED1B6A0A0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1507414"/>
            <a:ext cx="3840191" cy="3903332"/>
          </a:xfrm>
        </p:spPr>
        <p:txBody>
          <a:bodyPr anchor="t">
            <a:normAutofit/>
          </a:bodyPr>
          <a:lstStyle/>
          <a:p>
            <a:r>
              <a:rPr lang="hr-HR" sz="3500" noProof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Organizacija rada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CCE107-A70B-4916-9A0B-751C70B9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3642"/>
            <a:ext cx="8474200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25BC7-7CC5-4A0C-9B3D-8829EBF2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720340" y="3337052"/>
            <a:ext cx="3703320" cy="440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1307" y="1507415"/>
            <a:ext cx="3614318" cy="3903331"/>
          </a:xfrm>
          <a:ln w="57150">
            <a:noFill/>
          </a:ln>
        </p:spPr>
        <p:txBody>
          <a:bodyPr anchor="t">
            <a:normAutofit/>
          </a:bodyPr>
          <a:lstStyle/>
          <a:p>
            <a:r>
              <a:rPr lang="en-US" sz="1700" b="1">
                <a:latin typeface="Calibri" pitchFamily="34" charset="0"/>
                <a:ea typeface="Calibri" pitchFamily="34" charset="-122"/>
                <a:cs typeface="Calibri" pitchFamily="34" charset="-120"/>
              </a:rPr>
              <a:t>Komunikacija</a:t>
            </a: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Discord</a:t>
            </a:r>
            <a:r>
              <a:rPr lang="hr-HR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WhatsApp,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tjedni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sastanci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evidencija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odluka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zadataka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r-HR" sz="1700" noProof="0" dirty="0"/>
          </a:p>
          <a:p>
            <a:pPr lvl="1"/>
            <a:r>
              <a:rPr lang="hr-HR" sz="1700" dirty="0"/>
              <a:t>Agilni razvoj</a:t>
            </a:r>
            <a:endParaRPr lang="hr-HR" sz="1700" noProof="0" dirty="0"/>
          </a:p>
          <a:p>
            <a:pPr marL="457200" lvl="1" indent="0">
              <a:buNone/>
            </a:pPr>
            <a:endParaRPr lang="hr-HR" sz="1700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67D916-28C7-4965-BA3C-287FB857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878019"/>
            <a:ext cx="8474200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5951810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hr-H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0A0F4CC-F443-40C1-B000-840650808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F3DAE6-FFD2-4E7C-8FB8-E958A258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F7A394-B482-4D36-A98E-11A3212A1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886309-8F28-488F-8BA9-0BF7494C8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D5ABE4-8A47-4A84-9DB4-CCB7A3D42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15286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zervirano mjesto sadržaja 6" descr="Slika na kojoj se prikazuje tekst, snimka zaslona, izbornik&#10;&#10;Sadržaj generiran uz AI možda nije točan.">
            <a:extLst>
              <a:ext uri="{FF2B5EF4-FFF2-40B4-BE49-F238E27FC236}">
                <a16:creationId xmlns:a16="http://schemas.microsoft.com/office/drawing/2014/main" id="{CB0A860E-15B2-15A2-A4DC-59B11BA43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600" y="944775"/>
            <a:ext cx="3900232" cy="496844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EB06DC-2D36-4101-B5B2-45B5B1EEC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276" y="480060"/>
            <a:ext cx="414867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5DBEC3-EF6E-3849-03BE-2D938EF5B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118" y="1020802"/>
            <a:ext cx="3901281" cy="48163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0AA33-CA3E-903E-F3BE-45E7C1AA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644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67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188720"/>
          </a:xfrm>
        </p:spPr>
        <p:txBody>
          <a:bodyPr>
            <a:normAutofit/>
          </a:bodyPr>
          <a:lstStyle/>
          <a:p>
            <a:r>
              <a:rPr lang="hr-HR" noProof="0" dirty="0"/>
              <a:t>Zaključak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16</a:t>
            </a:fld>
            <a:endParaRPr lang="hr-H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91A67F2-362F-F11F-E419-1D399E7F3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215125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1337</TotalTime>
  <Words>758</Words>
  <Application>Microsoft Office PowerPoint</Application>
  <PresentationFormat>On-screen Show (4:3)</PresentationFormat>
  <Paragraphs>138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PLAYTRADE</vt:lpstr>
      <vt:lpstr>Sadržaj</vt:lpstr>
      <vt:lpstr>Sadržaj</vt:lpstr>
      <vt:lpstr>Članovi grupe</vt:lpstr>
      <vt:lpstr>O projektu</vt:lpstr>
      <vt:lpstr>FUNKCIJSKI zahtjevI</vt:lpstr>
      <vt:lpstr>FUNKCIJSKI ZAHTJEVI</vt:lpstr>
      <vt:lpstr>NEFUNKCIJSKI ZAHTJEVI</vt:lpstr>
      <vt:lpstr>UML dijagram obrazaca uporabe</vt:lpstr>
      <vt:lpstr>KORIŠTENi alati I TEHNOLOGIJE</vt:lpstr>
      <vt:lpstr>DIJAGRAM RAZMJEŠTAJA</vt:lpstr>
      <vt:lpstr>DIJAGRAM KOMPONENATA</vt:lpstr>
      <vt:lpstr>Ispitivanje</vt:lpstr>
      <vt:lpstr>Organizacija rada</vt:lpstr>
      <vt:lpstr>PowerPoint Presentation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Daniel Hukić</cp:lastModifiedBy>
  <cp:revision>59</cp:revision>
  <dcterms:created xsi:type="dcterms:W3CDTF">2016-01-18T13:10:52Z</dcterms:created>
  <dcterms:modified xsi:type="dcterms:W3CDTF">2026-01-23T21:55:13Z</dcterms:modified>
</cp:coreProperties>
</file>